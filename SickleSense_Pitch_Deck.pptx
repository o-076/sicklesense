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3931920" cy="3931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SICKLESENSE</a:t>
            </a:r>
          </a:p>
          <a:p>
            <a:pPr>
              <a:spcAft>
                <a:spcPts val="2400"/>
              </a:spcAft>
              <a:defRPr sz="2000">
                <a:solidFill>
                  <a:srgbClr val="FF8A7A"/>
                </a:solidFill>
              </a:defRPr>
            </a:pPr>
            <a:r>
              <a:t>Citation-Bound Clinical Evidence Assistant for Sickle Cell Disease</a:t>
            </a:r>
          </a:p>
          <a:p>
            <a:pPr>
              <a:spcAft>
                <a:spcPts val="3600"/>
              </a:spcAft>
              <a:defRPr sz="1300">
                <a:solidFill>
                  <a:srgbClr val="CBD6E2"/>
                </a:solidFill>
              </a:defRPr>
            </a:pPr>
            <a:r>
              <a:t>A grounded RAG system integrating domain-specific BiomedBERT embeddings, Azure AI Search hybrid retrieval, and constrained LLM synthesis.</a:t>
            </a:r>
          </a:p>
          <a:p>
            <a:pPr>
              <a:defRPr sz="1200" b="1">
                <a:solidFill>
                  <a:srgbClr val="A0B4CD"/>
                </a:solidFill>
              </a:defRPr>
            </a:pPr>
            <a:r>
              <a:t>Presented by Team MINOR THREAT 2026 | Creativa SCD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THE CLINICAL CHALLENGE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Why General-Purpose AI Fails in Sickle Cell 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2744"/>
                </a:solidFill>
              </a:defRPr>
            </a:pPr>
            <a:r>
              <a:t>Fragmented Clinical Guidelines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• Authoritative protocols (NHLBI, WHO, regional studies) span hundreds of pages.</a:t>
            </a:r>
            <a:br/>
            <a:br/>
            <a:r>
              <a:t>• Clinicians and hematology trainees lack fast, trustworthy margin-note tools during urgent patient rounds.</a:t>
            </a:r>
            <a:br/>
            <a:br/>
            <a:r>
              <a:t>• Critical dosage and screening thresholds (e.g., TCD velocities, hydroxyurea titration) are buried in dense appendices.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0392B"/>
                </a:solidFill>
              </a:defRPr>
            </a:pPr>
            <a:r>
              <a:t>Generic LLM Hallucinations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• Standard LLMs generate ungrounded, unverified medical advice with false confidence.</a:t>
            </a:r>
            <a:br/>
            <a:br/>
            <a:r>
              <a:t>• Fabricated citations and inaccurate contraindication advice create severe patient risk.</a:t>
            </a:r>
            <a:br/>
            <a:br/>
            <a:r>
              <a:t>• No page-level provenance or verification checks against the true medical corpus.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2744"/>
                </a:solidFill>
              </a:defRPr>
            </a:pPr>
            <a:r>
              <a:t>Uncontrolled Prescribing Risk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• Population guidelines must never be confused with direct individual patient prescriptions.</a:t>
            </a:r>
            <a:br/>
            <a:br/>
            <a:r>
              <a:t>• Existing chatbots fail to intercept patient-specific inquiries (e.g. 'What dose should I give my child?').</a:t>
            </a:r>
            <a:br/>
            <a:br/>
            <a:r>
              <a:t>• Lack of strict safety interceptors creates clinical 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OUR SOLUTION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SickleSense: The Citation-Bound Clinical Margin Note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E7D5A"/>
                </a:solidFill>
              </a:defRPr>
            </a:pPr>
            <a:r>
              <a:t>Strict Grounding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Every generated claim is bound to retrieved evidence chunks. Zero unverified external speculation.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A2744"/>
                </a:solidFill>
              </a:defRPr>
            </a:pPr>
            <a:r>
              <a:t>Verifiable Citations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Exact page numbers, section classifications, and chunk IDs (e.g. doc-CH-0396) for transparent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Two-Tier Safety Gates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Regex interceptor for patient-specific dosing requests + score threshold gating for out-of-scope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A2744"/>
                </a:solidFill>
              </a:defRPr>
            </a:pPr>
            <a:r>
              <a:t>Clinical Speed &amp; Reliability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FastAPI Linux architecture on Azure App Service with sub-second hybrid retrieval and structured markdown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KNOWLEDGE CORPUS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Three Authoritative Guidelines Powering SickleSense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C0392B"/>
                </a:solidFill>
              </a:defRPr>
            </a:pPr>
            <a:r>
              <a:t>NHLBI (2014)</a:t>
            </a:r>
          </a:p>
          <a:p>
            <a:pPr>
              <a:spcAft>
                <a:spcPts val="600"/>
              </a:spcAft>
              <a:defRPr sz="1000" b="1">
                <a:solidFill>
                  <a:srgbClr val="1A2744"/>
                </a:solidFill>
              </a:defRPr>
            </a:pPr>
            <a:r>
              <a:t>National Heart, Lung, and Blood Institute (NIH)</a:t>
            </a:r>
          </a:p>
          <a:p>
            <a:pPr>
              <a:spcAft>
                <a:spcPts val="1000"/>
              </a:spcAft>
              <a:defRPr sz="1100" i="1">
                <a:solidFill>
                  <a:srgbClr val="5E6E82"/>
                </a:solidFill>
              </a:defRPr>
            </a:pPr>
            <a:r>
              <a:t>Comprehensive Evidence-Based Management of SCD</a:t>
            </a:r>
          </a:p>
          <a:p>
            <a:pPr>
              <a:defRPr sz="1100">
                <a:solidFill>
                  <a:srgbClr val="1A2744"/>
                </a:solidFill>
              </a:defRPr>
            </a:pPr>
            <a:r>
              <a:t>• Hydroxyurea initiation thresholds in adults &amp; children</a:t>
            </a:r>
            <a:br/>
            <a:r>
              <a:t>• Annual Transcranial Doppler (TCD) stroke screening</a:t>
            </a:r>
            <a:br/>
            <a:r>
              <a:t>• Acute chest syndrome (ACS) diagnosis &amp; management</a:t>
            </a:r>
            <a:br/>
            <a:r>
              <a:t>• Transfusion therapy &amp; chronic kidney disease (CKD)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C0392B"/>
                </a:solidFill>
              </a:defRPr>
            </a:pPr>
            <a:r>
              <a:t>JCM (2024)</a:t>
            </a:r>
          </a:p>
          <a:p>
            <a:pPr>
              <a:spcAft>
                <a:spcPts val="600"/>
              </a:spcAft>
              <a:defRPr sz="1000" b="1">
                <a:solidFill>
                  <a:srgbClr val="1A2744"/>
                </a:solidFill>
              </a:defRPr>
            </a:pPr>
            <a:r>
              <a:t>Journal of Clinical Medicine (MDPI)</a:t>
            </a:r>
          </a:p>
          <a:p>
            <a:pPr>
              <a:spcAft>
                <a:spcPts val="1000"/>
              </a:spcAft>
              <a:defRPr sz="1100" i="1">
                <a:solidFill>
                  <a:srgbClr val="5E6E82"/>
                </a:solidFill>
              </a:defRPr>
            </a:pPr>
            <a:r>
              <a:t>Multicenter Retrospective Analysis Across Age Groups</a:t>
            </a:r>
          </a:p>
          <a:p>
            <a:pPr>
              <a:defRPr sz="1100">
                <a:solidFill>
                  <a:srgbClr val="1A2744"/>
                </a:solidFill>
              </a:defRPr>
            </a:pPr>
            <a:r>
              <a:t>• Real-world Saudi multicenter cohort data (Taif region)</a:t>
            </a:r>
            <a:br/>
            <a:r>
              <a:t>• Splenic disease manifestations and acute complications</a:t>
            </a:r>
            <a:br/>
            <a:r>
              <a:t>• Hospital length-of-stay and ICU admission rates</a:t>
            </a:r>
            <a:br/>
            <a:r>
              <a:t>• Age-group epidemiological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C0392B"/>
                </a:solidFill>
              </a:defRPr>
            </a:pPr>
            <a:r>
              <a:t>WHO (2026)</a:t>
            </a:r>
          </a:p>
          <a:p>
            <a:pPr>
              <a:spcAft>
                <a:spcPts val="600"/>
              </a:spcAft>
              <a:defRPr sz="1000" b="1">
                <a:solidFill>
                  <a:srgbClr val="1A2744"/>
                </a:solidFill>
              </a:defRPr>
            </a:pPr>
            <a:r>
              <a:t>World Health Organization (Geneva)</a:t>
            </a:r>
          </a:p>
          <a:p>
            <a:pPr>
              <a:spcAft>
                <a:spcPts val="1000"/>
              </a:spcAft>
              <a:defRPr sz="1100" i="1">
                <a:solidFill>
                  <a:srgbClr val="5E6E82"/>
                </a:solidFill>
              </a:defRPr>
            </a:pPr>
            <a:r>
              <a:t>Consolidated Guidelines for SCD in Children &amp; Adolescents</a:t>
            </a:r>
          </a:p>
          <a:p>
            <a:pPr>
              <a:defRPr sz="1100">
                <a:solidFill>
                  <a:srgbClr val="1A2744"/>
                </a:solidFill>
              </a:defRPr>
            </a:pPr>
            <a:r>
              <a:t>• Universal newborn screening &amp; diagnostic pathways</a:t>
            </a:r>
            <a:br/>
            <a:r>
              <a:t>• Penicillin &amp; malaria prophylaxis in endemic regions</a:t>
            </a:r>
            <a:br/>
            <a:r>
              <a:t>• Universal pediatric hydroxyurea recommendation</a:t>
            </a:r>
            <a:br/>
            <a:r>
              <a:t>• Growth faltering, danger signs, &amp; referral criteria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DATA ENGINEERING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Parent-Child Chunking: Precision Without Losing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2744"/>
                </a:solidFill>
              </a:defRPr>
            </a:pPr>
            <a:r>
              <a:t>Why Parent-Child Chunking?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• Small Chunks (800 chars): Optimize dense embedding similarity and pinpoint exact sentences in dense clinical text.</a:t>
            </a:r>
            <a:br/>
            <a:br/>
            <a:r>
              <a:t>• Parent References (Page-Level): Preserve chapter context, section hierarchy, and guideline tables.</a:t>
            </a:r>
            <a:br/>
            <a:br/>
            <a:r>
              <a:t>• 150-Char Overlap: Guarantees medical terms and multi-word drug protocols (e.g. '15-20 mg/kg/day') are never split across boundaries.</a:t>
            </a:r>
            <a:br/>
            <a:br/>
            <a:r>
              <a:t>• Result: High Precision@3 retrieval with complete paragraph context restored during LLM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2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8A7A"/>
                </a:solidFill>
              </a:defRPr>
            </a:pPr>
            <a:r>
              <a:t>Indexed Vector Schema (Azure AI Search)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{</a:t>
            </a:r>
            <a:br/>
            <a:r>
              <a:t>  "chunk_id": "nhlbi-scd-2014-CH-0396",</a:t>
            </a:r>
            <a:br/>
            <a:r>
              <a:t>  "parent_id": "nhlbi-scd-2014-P0077",</a:t>
            </a:r>
            <a:br/>
            <a:r>
              <a:t>  "document_id": "nhlbi-scd-2014",</a:t>
            </a:r>
            <a:br/>
            <a:r>
              <a:t>  "section": "Hydroxyurea Therapy",</a:t>
            </a:r>
            <a:br/>
            <a:r>
              <a:t>  "page_number": 77,</a:t>
            </a:r>
            <a:br/>
            <a:r>
              <a:t>  "text": "In adults with SCA who have &gt;= 3...",</a:t>
            </a:r>
            <a:br/>
            <a:r>
              <a:t>  "vector": [0.0124, -0.0451, ..., 768 dims]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RETRIEVAL ARCHITECTURE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Hybrid Search &amp; Reciprocal Rank Fusion (RRF)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A2744"/>
                </a:solidFill>
              </a:defRPr>
            </a:pPr>
            <a:r>
              <a:t>1. Dense Vector Embeddings</a:t>
            </a:r>
          </a:p>
          <a:p>
            <a:pPr>
              <a:spcAft>
                <a:spcPts val="1000"/>
              </a:spcAft>
              <a:defRPr sz="1000" b="1">
                <a:solidFill>
                  <a:srgbClr val="C0392B"/>
                </a:solidFill>
              </a:defRPr>
            </a:pPr>
            <a:r>
              <a:t>NeuML/biomedbert-base-embeddings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Transforms clinical queries into 768-dimensional normalized dense vectors. Trained specifically on PubMed and biomedical literature to capture deep clinical semantic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A2744"/>
                </a:solidFill>
              </a:defRPr>
            </a:pPr>
            <a:r>
              <a:t>2. Lexical BM25 Search</a:t>
            </a:r>
          </a:p>
          <a:p>
            <a:pPr>
              <a:spcAft>
                <a:spcPts val="1000"/>
              </a:spcAft>
              <a:defRPr sz="1000" b="1">
                <a:solidFill>
                  <a:srgbClr val="C0392B"/>
                </a:solidFill>
              </a:defRPr>
            </a:pPr>
            <a:r>
              <a:t>Exact Medical Acronym Matching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Performs inverted-index BM25 lexical search to ensure precise matching for critical medical abbreviations (VOC, ACS, TCD, HbSS, HbSβ⁰) that vector search might blur.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A2744"/>
                </a:solidFill>
              </a:defRPr>
            </a:pPr>
            <a:r>
              <a:t>3. Reciprocal Rank Fusion (RRF)</a:t>
            </a:r>
          </a:p>
          <a:p>
            <a:pPr>
              <a:spcAft>
                <a:spcPts val="1000"/>
              </a:spcAft>
              <a:defRPr sz="1000" b="1">
                <a:solidFill>
                  <a:srgbClr val="C0392B"/>
                </a:solidFill>
              </a:defRPr>
            </a:pPr>
            <a:r>
              <a:t>Server-Side Score Merging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Azure AI Search merges dense vector and BM25 rankings via RRF algorithm. Scores are calibrated against threshold (0.025) to discard irrelevant questions before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CLOUD &amp; BACKEND INFRASTRUCTURE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FastAPI on Azure App Service &amp; Azure AI 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2744"/>
                </a:solidFill>
              </a:defRPr>
            </a:pPr>
            <a:r>
              <a:t>FastAPI Backend Architecture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• High-Performance Async API: Decoupled Python service built with FastAPI and Pydantic validation.</a:t>
            </a:r>
            <a:br/>
            <a:br/>
            <a:r>
              <a:t>• Dedicated App Service Linux: Configured with Always-On to eliminate cold starts typical of serverless functions.</a:t>
            </a:r>
            <a:br/>
            <a:br/>
            <a:r>
              <a:t>• Groq LLM Acceleration: Queries openai/gpt-oss-120b in sub-second response times under strict temperature=0 grounding.</a:t>
            </a:r>
            <a:br/>
            <a:br/>
            <a:r>
              <a:t>• Automated OpenAPI Docs: Live interactive Swagger UI at /docs and monitoring at /health.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2744"/>
                </a:solidFill>
              </a:defRPr>
            </a:pPr>
            <a:r>
              <a:t>Azure Cloud Infrastructure</a:t>
            </a:r>
          </a:p>
          <a:p>
            <a:pPr>
              <a:defRPr sz="1200">
                <a:solidFill>
                  <a:srgbClr val="5E6E82"/>
                </a:solidFill>
              </a:defRPr>
            </a:pPr>
            <a:r>
              <a:t>• Azure AI Search Index (creativa-hackathon-pc): Hosts 768d vector index with HNSW cosine similarity alongside BM25 indexes.</a:t>
            </a:r>
            <a:br/>
            <a:br/>
            <a:r>
              <a:t>• Azure App Service (sicklesense-api): Production Linux container hosting the FastAPI backend in Sweden Central region.</a:t>
            </a:r>
            <a:br/>
            <a:br/>
            <a:r>
              <a:t>• CORS &amp; Security: Configured for secure frontend access without exposing database credentials or API keys.</a:t>
            </a:r>
            <a:br/>
            <a:br/>
            <a:r>
              <a:t>• Zero-Downtime Reliability: Fully managed scalable cloud instance.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FRONTEND &amp; CI/CD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Vite + React SPA &amp; GitHub Actions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A2744"/>
                </a:solidFill>
              </a:defRPr>
            </a:pPr>
            <a:r>
              <a:t>Modern React UI</a:t>
            </a:r>
          </a:p>
          <a:p>
            <a:pPr>
              <a:spcAft>
                <a:spcPts val="1000"/>
              </a:spcAft>
              <a:defRPr sz="1000" b="1">
                <a:solidFill>
                  <a:srgbClr val="C0392B"/>
                </a:solidFill>
              </a:defRPr>
            </a:pPr>
            <a:r>
              <a:t>Vite + React + Lucide</a:t>
            </a:r>
          </a:p>
          <a:p>
            <a:pPr>
              <a:defRPr sz="1100">
                <a:solidFill>
                  <a:srgbClr val="5E6E82"/>
                </a:solidFill>
              </a:defRPr>
            </a:pPr>
            <a:r>
              <a:t>• Navy + Crimson clinical branding matching SickleSense mascot.</a:t>
            </a:r>
            <a:br/>
            <a:r>
              <a:t>• Markdown tables with remark-gfm responsive containers.</a:t>
            </a:r>
            <a:br/>
            <a:r>
              <a:t>• Live backend health checker &amp; interactive FAQ accordion.</a:t>
            </a:r>
            <a:br/>
            <a:r>
              <a:t>• Zero chat clutter: structured evidence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A2744"/>
                </a:solidFill>
              </a:defRPr>
            </a:pPr>
            <a:r>
              <a:t>Decoupled Integration</a:t>
            </a:r>
          </a:p>
          <a:p>
            <a:pPr>
              <a:spcAft>
                <a:spcPts val="1000"/>
              </a:spcAft>
              <a:defRPr sz="1000" b="1">
                <a:solidFill>
                  <a:srgbClr val="C0392B"/>
                </a:solidFill>
              </a:defRPr>
            </a:pPr>
            <a:r>
              <a:t>RESTful JSON Protocol</a:t>
            </a:r>
          </a:p>
          <a:p>
            <a:pPr>
              <a:defRPr sz="1100">
                <a:solidFill>
                  <a:srgbClr val="5E6E82"/>
                </a:solidFill>
              </a:defRPr>
            </a:pPr>
            <a:r>
              <a:t>• POST /api/query: Sends { query, top_k } payload.</a:t>
            </a:r>
            <a:br/>
            <a:r>
              <a:t>• Dynamic citation mapping displaying score, section, &amp; chunk ID.</a:t>
            </a:r>
            <a:br/>
            <a:r>
              <a:t>• AbortController timeout handling (30s resilience).</a:t>
            </a:r>
            <a:br/>
            <a:r>
              <a:t>• Direct sample query loading from Sources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A2744"/>
                </a:solidFill>
              </a:defRPr>
            </a:pPr>
            <a:r>
              <a:t>Automated CI/CD</a:t>
            </a:r>
          </a:p>
          <a:p>
            <a:pPr>
              <a:spcAft>
                <a:spcPts val="1000"/>
              </a:spcAft>
              <a:defRPr sz="1000" b="1">
                <a:solidFill>
                  <a:srgbClr val="C0392B"/>
                </a:solidFill>
              </a:defRPr>
            </a:pPr>
            <a:r>
              <a:t>GitHub Actions &amp; Pages</a:t>
            </a:r>
          </a:p>
          <a:p>
            <a:pPr>
              <a:defRPr sz="1100">
                <a:solidFill>
                  <a:srgbClr val="5E6E82"/>
                </a:solidFill>
              </a:defRPr>
            </a:pPr>
            <a:r>
              <a:t>• Automated deployment workflow on git push to master.</a:t>
            </a:r>
            <a:br/>
            <a:r>
              <a:t>• Production Vite build outputting optimized static assets.</a:t>
            </a:r>
            <a:br/>
            <a:r>
              <a:t>• Relative base path configuration for reliable subpath routing.</a:t>
            </a:r>
            <a:br/>
            <a:r>
              <a:t>• Zero hosting maintenance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0392B"/>
                </a:solidFill>
              </a:defRPr>
            </a:pPr>
            <a:r>
              <a:t>PERFORMANCE &amp; VERIFICATION</a:t>
            </a:r>
          </a:p>
          <a:p>
            <a:pPr>
              <a:defRPr sz="2200" b="1">
                <a:solidFill>
                  <a:srgbClr val="1A2744"/>
                </a:solidFill>
              </a:defRPr>
            </a:pPr>
            <a:r>
              <a:t>Empirical Evaluation Across 20 Clinical Benchmark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6E82"/>
                </a:solidFill>
              </a:defRPr>
            </a:pPr>
            <a:r>
              <a:t>Precision@3</a:t>
            </a:r>
          </a:p>
          <a:p>
            <a:pPr>
              <a:defRPr sz="3600" b="1">
                <a:solidFill>
                  <a:srgbClr val="2E7D5A"/>
                </a:solidFill>
              </a:defRPr>
            </a:pPr>
            <a:r>
              <a:t>0.500</a:t>
            </a:r>
          </a:p>
          <a:p>
            <a:pPr>
              <a:defRPr sz="1000">
                <a:solidFill>
                  <a:srgbClr val="5E6E82"/>
                </a:solidFill>
              </a:defRPr>
            </a:pPr>
            <a:r>
              <a:t>50% of top-3 retrieved passages directly answer clinical intent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6E82"/>
                </a:solidFill>
              </a:defRPr>
            </a:pPr>
            <a:r>
              <a:t>Precision@5</a:t>
            </a:r>
          </a:p>
          <a:p>
            <a:pPr>
              <a:defRPr sz="3600" b="1">
                <a:solidFill>
                  <a:srgbClr val="1A2744"/>
                </a:solidFill>
              </a:defRPr>
            </a:pPr>
            <a:r>
              <a:t>0.463</a:t>
            </a:r>
          </a:p>
          <a:p>
            <a:pPr>
              <a:defRPr sz="1000">
                <a:solidFill>
                  <a:srgbClr val="5E6E82"/>
                </a:solidFill>
              </a:defRPr>
            </a:pPr>
            <a:r>
              <a:t>Broad clinical context retained across 5 retrieved chunks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00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6E82"/>
                </a:solidFill>
              </a:defRPr>
            </a:pPr>
            <a:r>
              <a:t>Out-of-Scope Rejection</a:t>
            </a:r>
          </a:p>
          <a:p>
            <a:pPr>
              <a:defRPr sz="3600" b="1">
                <a:solidFill>
                  <a:srgbClr val="C0392B"/>
                </a:solidFill>
              </a:defRPr>
            </a:pPr>
            <a:r>
              <a:t>100%</a:t>
            </a:r>
          </a:p>
          <a:p>
            <a:pPr>
              <a:defRPr sz="1000">
                <a:solidFill>
                  <a:srgbClr val="5E6E82"/>
                </a:solidFill>
              </a:defRPr>
            </a:pPr>
            <a:r>
              <a:t>0.000 false-relevance rate on unrelated medical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2744"/>
                </a:solidFill>
              </a:defRPr>
            </a:pPr>
            <a:r>
              <a:t>Benchmark Categories Tested During Development</a:t>
            </a:r>
          </a:p>
          <a:p>
            <a:pPr>
              <a:defRPr sz="1100">
                <a:solidFill>
                  <a:srgbClr val="5E6E82"/>
                </a:solidFill>
              </a:defRPr>
            </a:pPr>
            <a:r>
              <a:t>1. Direct Guideline Fact Lookup (e.g. 'When should hydroxyurea be started in adults?') -&gt; Exact guideline citation matched.</a:t>
            </a:r>
            <a:br/>
            <a:r>
              <a:t>2. Paraphrased Clinical Queries (e.g. 'How to lower alloimmunization risk from transfusion?') -&gt; Correct matching across chapters.</a:t>
            </a:r>
            <a:br/>
            <a:r>
              <a:t>3. Thresholds &amp; Acronyms (e.g. 'What does TCD stand for and how is stroke screened?') -&gt; Precise abbreviation expansion.</a:t>
            </a:r>
            <a:br/>
            <a:r>
              <a:t>4. Out-of-Scope Disease Questions (e.g. 'Ibuprofen dosage for migraine in healthy adult') -&gt; Gated &amp; safely refused.</a:t>
            </a:r>
            <a:br/>
            <a:r>
              <a:t>5. Unsafe Patient-Specific Dosage Inquiries -&gt; Intercepted immediately before LLM invocation.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SICKLESENSE</a:t>
            </a:r>
          </a:p>
          <a:p>
            <a:pPr>
              <a:spcAft>
                <a:spcPts val="2400"/>
              </a:spcAft>
              <a:defRPr sz="2200" i="1">
                <a:solidFill>
                  <a:srgbClr val="FF8A7A"/>
                </a:solidFill>
              </a:defRPr>
            </a:pPr>
            <a:r>
              <a:t>"Sources Before Certainty"</a:t>
            </a:r>
          </a:p>
          <a:p>
            <a:pPr>
              <a:spcAft>
                <a:spcPts val="2800"/>
              </a:spcAft>
              <a:defRPr sz="1300">
                <a:solidFill>
                  <a:srgbClr val="CBD6E2"/>
                </a:solidFill>
              </a:defRPr>
            </a:pPr>
            <a:r>
              <a:t>SickleSense demonstrates how domain-adapted embeddings, parent-child chunking, and hybrid RRF search can transform hundreds of pages of complex medical guidelines into an instant, traceable, and safe clinical assistant.</a:t>
            </a:r>
            <a:br/>
            <a:br/>
            <a:r>
              <a:t>Live Web App: https://O-076.github.io/sicklesense/</a:t>
            </a:r>
            <a:br/>
            <a:r>
              <a:t>FastAPI Swagger Docs: https://sicklesense-api-dgh3aqdwb3eghdc4.swedencentral-01.azurewebsites.net/docs</a:t>
            </a:r>
          </a:p>
          <a:p>
            <a:pPr>
              <a:defRPr sz="1200" b="1">
                <a:solidFill>
                  <a:srgbClr val="A0B4CD"/>
                </a:solidFill>
              </a:defRPr>
            </a:pPr>
            <a:r>
              <a:t>Developed with care by Team MINOR THREAT 2026 for the Creativa SCD AI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